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3316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91440"/>
            <a:ext cx="822960" cy="712683"/>
          </a:xfrm>
          <a:prstGeom prst="ellipse">
            <a:avLst/>
          </a:prstGeom>
          <a:solidFill>
            <a:srgbClr val="F0A500">
              <a:alpha val="15000"/>
            </a:srgbClr>
          </a:solidFill>
          <a:ln w="6350">
            <a:solidFill>
              <a:srgbClr val="0A201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138160" y="502920"/>
            <a:ext cx="822960" cy="712683"/>
          </a:xfrm>
          <a:prstGeom prst="ellipse">
            <a:avLst/>
          </a:prstGeom>
          <a:solidFill>
            <a:srgbClr val="A8D5BA">
              <a:alpha val="12000"/>
            </a:srgbClr>
          </a:solidFill>
          <a:ln w="6350">
            <a:solidFill>
              <a:srgbClr val="0A201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040880" y="502920"/>
            <a:ext cx="822960" cy="712683"/>
          </a:xfrm>
          <a:prstGeom prst="ellipse">
            <a:avLst/>
          </a:prstGeom>
          <a:solidFill>
            <a:srgbClr val="A8D5BA">
              <a:alpha val="10000"/>
            </a:srgbClr>
          </a:solidFill>
          <a:ln w="6350">
            <a:solidFill>
              <a:srgbClr val="0A201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589520" y="914400"/>
            <a:ext cx="822960" cy="712683"/>
          </a:xfrm>
          <a:prstGeom prst="ellipse">
            <a:avLst/>
          </a:prstGeom>
          <a:solidFill>
            <a:srgbClr val="F0A500">
              <a:alpha val="8000"/>
            </a:srgbClr>
          </a:solidFill>
          <a:ln w="6350">
            <a:solidFill>
              <a:srgbClr val="0A201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3A26"/>
          </a:solidFill>
          <a:ln w="12700">
            <a:solidFill>
              <a:srgbClr val="163A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11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ÉCO-CONCEPTION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0ED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Système Anti-Varroa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0ED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Cycle de Vie — ReCiPe 2016 midpoint (H)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32004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Bondon · Abdoulaye Baldé · Nicolas Roth · Léandro Euphrasie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00000"/>
                </a:solidFill>
              </a:rPr>
              <a:t>🐝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8D5BA"/>
          </a:solidFill>
          <a:ln w="12700">
            <a:solidFill>
              <a:srgbClr val="A8D5B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 &amp; OBJECTIFS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D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Problématique &amp; Objectif du Projet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347472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4114800" cy="256032"/>
          </a:xfrm>
          <a:prstGeom prst="rect">
            <a:avLst/>
          </a:prstGeom>
          <a:solidFill>
            <a:srgbClr val="A8D5BA"/>
          </a:solidFill>
          <a:ln w="12700">
            <a:solidFill>
              <a:srgbClr val="A8D5B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325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Varroa destructor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94767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Acarien parasite — principal fléau mondial des colonies d'abeilles. Effondrement en 2-3 ans sans traitement.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⚗️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26974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chimiques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95351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Résistances aux acaricides, contamination du miel et de la cire, toxicité pour l'apiculteur.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🌡️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" y="37033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Hyperthermie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95935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°C pendant 2 h — seuil létal du varroa mais supporté par les abeilles. Alternative verte.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325880"/>
            <a:ext cx="4160520" cy="164592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416052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663440" y="13258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PROJET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1664208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dispositif embarqué autonome (ESP32) permettant le traitement thermique anti-varroa, sans produit chimique, utilisable hors-réseau.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108960"/>
            <a:ext cx="4160520" cy="169164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5488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Cible thermique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611880"/>
            <a:ext cx="3657600" cy="228600"/>
          </a:xfrm>
          <a:prstGeom prst="rect">
            <a:avLst/>
          </a:prstGeom>
          <a:solidFill>
            <a:srgbClr val="1E4A2E"/>
          </a:solidFill>
          <a:ln w="6350">
            <a:solidFill>
              <a:srgbClr val="6B8C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846320" y="3611880"/>
            <a:ext cx="3072384" cy="2286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552944" y="3337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42°C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8679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863840" y="38679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50°C max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63440" y="416052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h / cycle  ·  ≥ 90 % mortalité varroa  ·  0 produit chimique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UNITÉ FONCTIONNELLE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D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Unité Fonctionnelle &amp; Flux de Référence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105156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54864" cy="10515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8138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Éliminer ≥ 90 % des varroas dans une ruche en bois, </a:t>
            </a: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maintenant 42 °C pendant 2 h, </a:t>
            </a:r>
            <a:r>
              <a:rPr lang="en-US" sz="13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raison de 12 traitements/an pour un rucher de 5 ruches, avec un équipement conçu pour durer </a:t>
            </a: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423160"/>
            <a:ext cx="1828800" cy="118872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1828800" cy="2011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4320" y="26243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42°C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319125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cible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33924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létal varroa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68880" y="2423160"/>
            <a:ext cx="1828800" cy="118872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468880" y="2423160"/>
            <a:ext cx="1828800" cy="2011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468880" y="26243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h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468880" y="319125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cycle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468880" y="33924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traitement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2423160"/>
            <a:ext cx="1828800" cy="118872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663440" y="2423160"/>
            <a:ext cx="1828800" cy="2011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663440" y="26243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663440" y="319125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/ 5 ans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63440" y="33924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de vie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58000" y="2423160"/>
            <a:ext cx="1828800" cy="118872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858000" y="2423160"/>
            <a:ext cx="1828800" cy="2011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858000" y="26243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600 h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58000" y="319125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 active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58000" y="33924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Énergie totale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37307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axes prioritaires d'éco-conception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096512"/>
            <a:ext cx="2697480" cy="82296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65760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🔩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8680" y="4133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mécanique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" y="4407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300 manipulations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54680" y="4096512"/>
            <a:ext cx="2697480" cy="82296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246120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749040" y="4133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Efficience énergétique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49040" y="4407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h de chauffe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4096512"/>
            <a:ext cx="2697480" cy="82296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126480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♻️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629400" y="4133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de vie 5 ans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29400" y="4407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le renouvellement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8D5BA"/>
          </a:solidFill>
          <a:ln w="12700">
            <a:solidFill>
              <a:srgbClr val="A8D5B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SCHÉMA BLOC &amp; INVENTAIRE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ESP32 — Inventaire Ecoconception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0" y="1371599"/>
            <a:ext cx="2011680" cy="2138277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0" y="1371600"/>
            <a:ext cx="201168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0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89020" y="2052117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MHz · Wi-Fi 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· EEPROM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2743200" cy="109728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00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1325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 ×3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645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T° — OneWire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15/16/17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17520" y="1737360"/>
            <a:ext cx="64008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ysDash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2743200" cy="109728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2004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Résistances ×2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0175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chauffants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12/13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17520" y="3108960"/>
            <a:ext cx="64008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ysDash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309360" y="1188720"/>
            <a:ext cx="2743200" cy="109728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3550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💨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0" y="1325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Ventilateurs ×2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16459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200 — Pins 2/4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 airflow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1737360"/>
            <a:ext cx="64008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ysDash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309360" y="2560320"/>
            <a:ext cx="2743200" cy="109728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35508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58000" y="2697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30175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Wi-Fi SEAN_BONDON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192.168.1.15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0" y="3108960"/>
            <a:ext cx="64008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ysDash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274320" y="3794760"/>
            <a:ext cx="8595360" cy="77724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74320" y="3794760"/>
            <a:ext cx="54864" cy="7772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Sécurité : consigne bornée 10–50 °C · Isolation tâches web / PID via FreeRTOS · Watchdog Wi-Fi (restart si aucun client &gt; 30 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RELEVÉ DES IMPACTS ACV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Résultats ReCiPe 2016 — Points Chauds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743200" cy="256032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57200" cy="45720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3716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Toxicité humaine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non-cancérigène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0116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109,97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7432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1,4-DCB-Eq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2560320" cy="274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électroniques (ESP32, PCB) — métaux lourds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1280160"/>
            <a:ext cx="2743200" cy="256032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91840" y="1371600"/>
            <a:ext cx="457200" cy="457200"/>
          </a:xfrm>
          <a:prstGeom prst="ellipse">
            <a:avLst/>
          </a:prstGeom>
          <a:solidFill>
            <a:srgbClr val="E08A3A"/>
          </a:solidFill>
          <a:ln w="12700">
            <a:solidFill>
              <a:srgbClr val="E08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2918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94760" y="13716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Écotoxicité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terrestre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20116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8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65,11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20040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1,4-DCB-Eq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560320" cy="27432"/>
          </a:xfrm>
          <a:prstGeom prst="rect">
            <a:avLst/>
          </a:prstGeom>
          <a:solidFill>
            <a:srgbClr val="E08A3A"/>
          </a:solidFill>
          <a:ln w="12700">
            <a:solidFill>
              <a:srgbClr val="E08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291840" y="3108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minière (Cu, Sn, Au) pour l'électronique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26480" y="1280160"/>
            <a:ext cx="2743200" cy="256032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217920" y="1371600"/>
            <a:ext cx="457200" cy="457200"/>
          </a:xfrm>
          <a:prstGeom prst="ellipse">
            <a:avLst/>
          </a:prstGeom>
          <a:solidFill>
            <a:srgbClr val="A8D5BA"/>
          </a:solidFill>
          <a:ln w="12700">
            <a:solidFill>
              <a:srgbClr val="A8D5B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2179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13716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climatique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20116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8D5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14,22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12648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CO₂-Eq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17920" y="3017520"/>
            <a:ext cx="2560320" cy="27432"/>
          </a:xfrm>
          <a:prstGeom prst="rect">
            <a:avLst/>
          </a:prstGeom>
          <a:solidFill>
            <a:srgbClr val="A8D5BA"/>
          </a:solidFill>
          <a:ln w="12700">
            <a:solidFill>
              <a:srgbClr val="A8D5B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217920" y="3108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d'énergie électrique — 600 h de chauffe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74320" y="3977640"/>
            <a:ext cx="54864" cy="8686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02920" y="4114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dominante : 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28800" y="41148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des composants électroniques  &gt;  Phase d'utilisation énergétique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18 catégories analysées (OpenLCA) — tableau complet disponible en annexe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8D5BA"/>
          </a:solidFill>
          <a:ln w="12700">
            <a:solidFill>
              <a:srgbClr val="A8D5B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DISCUSSION &amp; AXES D'ÉCO-CONCEPTION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Alternatives &amp; Leviers d'Amélioration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743200" cy="160020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2743200" cy="2286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PHYSIQUE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l'électronique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99339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Simplifier le BOM, composants certifiés EPEAT/TCO, réduire le nombre de PCB — cible l'hotspot principal.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18688" y="1280160"/>
            <a:ext cx="2743200" cy="160020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18688" y="1280160"/>
            <a:ext cx="2743200" cy="2286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218688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PHYSIQUE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64408" y="1554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☀️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67328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 solaire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199339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PV pour la phase d'utilisation (600 h) — réduit l'empreinte CO₂ de la chauffe de ~70 %.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63056" y="1280160"/>
            <a:ext cx="2743200" cy="160020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163056" y="1280160"/>
            <a:ext cx="2743200" cy="228600"/>
          </a:xfrm>
          <a:prstGeom prst="rect">
            <a:avLst/>
          </a:prstGeom>
          <a:solidFill>
            <a:srgbClr val="E08A3A"/>
          </a:solidFill>
          <a:ln w="12700">
            <a:solidFill>
              <a:srgbClr val="E08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163056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208776" y="1554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11696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 PID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54496" y="199339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le Tout-ou-Rien par un vrai PID : moins de dépassements, durée de chauffe réduite, meilleure efficacité biologique.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063240"/>
            <a:ext cx="2743200" cy="160020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74320" y="3063240"/>
            <a:ext cx="2743200" cy="2286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7432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PHYSIQUE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0040" y="3337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2960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Boîtier IP65 modulaire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77647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humidité/abeilles, remplacement des éléments chauffants seuls, ≥ 300 manipulations garanties.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18688" y="3063240"/>
            <a:ext cx="2743200" cy="160020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18688" y="3063240"/>
            <a:ext cx="2743200" cy="228600"/>
          </a:xfrm>
          <a:prstGeom prst="rect">
            <a:avLst/>
          </a:prstGeom>
          <a:solidFill>
            <a:srgbClr val="E08A3A"/>
          </a:solidFill>
          <a:ln w="12700">
            <a:solidFill>
              <a:srgbClr val="E08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218688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264408" y="3337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♻️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767328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vie &amp; DEEE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10128" y="377647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Prévoir le démontage des cartes, matériaux recyclables pour le boîtier, passeport produit documenté.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63056" y="3063240"/>
            <a:ext cx="2743200" cy="160020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163056" y="3063240"/>
            <a:ext cx="2743200" cy="228600"/>
          </a:xfrm>
          <a:prstGeom prst="rect">
            <a:avLst/>
          </a:prstGeom>
          <a:solidFill>
            <a:srgbClr val="A8D5BA"/>
          </a:solidFill>
          <a:ln w="12700">
            <a:solidFill>
              <a:srgbClr val="A8D5B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163056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08776" y="3337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711696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ACV complète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54496" y="377647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la phase fin de vie + transport. Comparer avec Apivar chimique sur 5 ans pour quantifier le gain.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91440"/>
            <a:ext cx="1097280" cy="950244"/>
          </a:xfrm>
          <a:prstGeom prst="ellipse">
            <a:avLst/>
          </a:prstGeom>
          <a:solidFill>
            <a:srgbClr val="F0A500">
              <a:alpha val="10000"/>
            </a:srgbClr>
          </a:solidFill>
          <a:ln w="6350">
            <a:solidFill>
              <a:srgbClr val="0A201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914400" cy="791870"/>
          </a:xfrm>
          <a:prstGeom prst="ellipse">
            <a:avLst/>
          </a:prstGeom>
          <a:solidFill>
            <a:srgbClr val="A8D5BA">
              <a:alpha val="8000"/>
            </a:srgbClr>
          </a:solidFill>
          <a:ln w="6350">
            <a:solidFill>
              <a:srgbClr val="0A201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229600" y="3657600"/>
            <a:ext cx="1097280" cy="950244"/>
          </a:xfrm>
          <a:prstGeom prst="ellipse">
            <a:avLst/>
          </a:prstGeom>
          <a:solidFill>
            <a:srgbClr val="F0A500">
              <a:alpha val="10000"/>
            </a:srgbClr>
          </a:solidFill>
          <a:ln w="6350">
            <a:solidFill>
              <a:srgbClr val="0A201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680960" y="4114800"/>
            <a:ext cx="914400" cy="791870"/>
          </a:xfrm>
          <a:prstGeom prst="ellipse">
            <a:avLst/>
          </a:prstGeom>
          <a:solidFill>
            <a:srgbClr val="A8D5BA">
              <a:alpha val="8000"/>
            </a:srgbClr>
          </a:solidFill>
          <a:ln w="6350">
            <a:solidFill>
              <a:srgbClr val="0A201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228600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F0A5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228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A8D5B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432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D5BA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9144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pertinent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1170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chimio-free, fonctionnel et autonome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737360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A8D5B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D5BA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737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bien définie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1993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cycles / 600 h sur 5 ans — périmètre clair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560320"/>
            <a:ext cx="384048" cy="384048"/>
          </a:xfrm>
          <a:prstGeom prst="ellipse">
            <a:avLst/>
          </a:prstGeom>
          <a:solidFill>
            <a:srgbClr val="7B2D2D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432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252"/>
                </a:solidFill>
              </a:rPr>
              <a:t>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2560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critique identifiée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2816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composants = principal hotspot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383280"/>
            <a:ext cx="384048" cy="384048"/>
          </a:xfrm>
          <a:prstGeom prst="ellipse">
            <a:avLst/>
          </a:prstGeom>
          <a:solidFill>
            <a:srgbClr val="7B2D2D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7432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252"/>
                </a:solidFill>
              </a:rPr>
              <a:t>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383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Toxicité dominante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3639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109,97 kg 1,4-DCB-Eq + 65 kg écotox. terrestre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914400"/>
            <a:ext cx="4114800" cy="2286000"/>
          </a:xfrm>
          <a:prstGeom prst="rect">
            <a:avLst/>
          </a:prstGeom>
          <a:solidFill>
            <a:srgbClr val="163A26"/>
          </a:solidFill>
          <a:ln w="762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754880" y="914400"/>
            <a:ext cx="411480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754880" y="914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PRIORITÉS D'ACTION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261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Simplifier l'électronique + composants certifiés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1737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Alimenter en énergie renouvelable (solaire)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22128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ACV complète (fin de vie + transport)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268833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Comparer avec traitement chimique Apivar / 5 ans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0" y="3017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00000"/>
                </a:solidFill>
              </a:rPr>
              <a:t>🐝</a:t>
            </a:r>
            <a:endParaRPr lang="en-US" sz="6000" dirty="0"/>
          </a:p>
        </p:txBody>
      </p:sp>
      <p:sp>
        <p:nvSpPr>
          <p:cNvPr id="33" name="Text 31"/>
          <p:cNvSpPr/>
          <p:nvPr/>
        </p:nvSpPr>
        <p:spPr>
          <a:xfrm>
            <a:off x="274320" y="365760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?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: ReCiPe 2016 v1.03 midpoint (H)  ·  Outil : OpenLCA  ·  Système : ESP32 complet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701</Words>
  <Application>Microsoft Office PowerPoint</Application>
  <PresentationFormat>Affichage à l'écran (16:9)</PresentationFormat>
  <Paragraphs>149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ACV – Système Anti-Varroa ESP32</dc:title>
  <dc:subject>PptxGenJS Presentation</dc:subject>
  <dc:creator>PptxGenJS</dc:creator>
  <cp:lastModifiedBy>Nicolas Roth</cp:lastModifiedBy>
  <cp:revision>2</cp:revision>
  <dcterms:created xsi:type="dcterms:W3CDTF">2026-05-12T06:24:23Z</dcterms:created>
  <dcterms:modified xsi:type="dcterms:W3CDTF">2026-05-12T06:32:03Z</dcterms:modified>
</cp:coreProperties>
</file>