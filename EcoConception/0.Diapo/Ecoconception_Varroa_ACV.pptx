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B03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30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30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A8C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A8C3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A8C3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Toxicité humaine
(non-cancérigène)</c:v>
                  </c:pt>
                  <c:pt idx="1">
                    <c:v>Écotox. terrestre</c:v>
                  </c:pt>
                  <c:pt idx="2">
                    <c:v>Écotox. marine</c:v>
                  </c:pt>
                  <c:pt idx="3">
                    <c:v>Écotox. eau douce</c:v>
                  </c:pt>
                  <c:pt idx="4">
                    <c:v>Toxicité humaine
(cancérigène)</c:v>
                  </c:pt>
                  <c:pt idx="5">
                    <c:v>Changement
climatique</c:v>
                  </c:pt>
                  <c:pt idx="6">
                    <c:v>Ressources
fossiles</c:v>
                  </c:pt>
                  <c:pt idx="7">
                    <c:v>Utilisation
des terres</c:v>
                  </c:pt>
                  <c:pt idx="8">
                    <c:v>Ressources
métaux/minéraux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109.97</c:v>
                </c:pt>
                <c:pt idx="1">
                  <c:v>65.11</c:v>
                </c:pt>
                <c:pt idx="2">
                  <c:v>8.76</c:v>
                </c:pt>
                <c:pt idx="3">
                  <c:v>6.63</c:v>
                </c:pt>
                <c:pt idx="4">
                  <c:v>5.1</c:v>
                </c:pt>
                <c:pt idx="5">
                  <c:v>14.22</c:v>
                </c:pt>
                <c:pt idx="6">
                  <c:v>3.71</c:v>
                </c:pt>
                <c:pt idx="7">
                  <c:v>1.07</c:v>
                </c:pt>
                <c:pt idx="8">
                  <c:v>0.73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C040"/>
                </a:solidFill>
              </a:rPr>
              <a:t>Éco-Conception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Système de Chauffage Anti-Varroa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 Hyperthermie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C0"/>
                </a:solidFill>
              </a:rPr>
              <a:t>Basé sur ESP32 • Régulation thermique autonome • Apiculture durable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5720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6B"/>
                </a:solidFill>
              </a:rPr>
              <a:t>Analyse du Cycle de Vie — Simulation OpenLCA | ReCiPe 2016 v1.03 midpoint (H)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la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02920" cy="1143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132588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Contexte &amp; Problématique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Le Varroa destructor et l'alternative thermique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304288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04288"/>
            <a:ext cx="502920" cy="11430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262432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414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Description du Projet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8712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Architecture matérielle et logicielle ESP32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602736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02736"/>
            <a:ext cx="502920" cy="1143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" y="3922776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Unité Fonctionnelle (UF)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Définition et flux de référence ACV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502920" cy="11430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132588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1115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Résultats ACV — Impacts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572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18 catégories d'impact — ReCiPe 2016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304288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04288"/>
            <a:ext cx="502920" cy="1143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2624328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2414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Analyse des Points Chauds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8712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Catégories dominantes et leviers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02736"/>
            <a:ext cx="502920" cy="11430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3922776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37124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Axes d'Éco-conception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4169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Recommandations et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Problématique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Le Varroa destructor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Acarien parasite de l'abeille mellifère — principale menace mondiale des colonies. Sans traitement, la colonie s'effondre en 2 à 3 ans.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4231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423160"/>
            <a:ext cx="73152" cy="1280160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020"/>
                </a:solidFill>
              </a:rPr>
              <a:t>Les limites des traitements chimiques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Résistance croissante aux acaricides, contamination du miel et de la cire, impact sur la santé des abeilles et de l'apiculteur.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7947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794760"/>
            <a:ext cx="73152" cy="118872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86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8C3A"/>
                </a:solidFill>
              </a:rPr>
              <a:t>L'alternative : l'hyperthermie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Traiter les abeilles à 42 °C pendant 2 h tue le varroa sans produit chimique, car les abeilles supportent cette température contrairement au parasite.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En chiffres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4904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3020"/>
                </a:solidFill>
              </a:rPr>
              <a:t>42°C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754880" y="2039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température cible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295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Seuil létal du varroa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417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4904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</a:rPr>
              <a:t>2h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949440" y="2039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par traitement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295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Durée d'un cycle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862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8C3A"/>
                </a:solidFill>
              </a:rPr>
              <a:t>≥ 90%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754880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efficacité visée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Mortalité du varroa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7889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2862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0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949440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produit chimique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Alternative verte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4251960" cy="1143000"/>
          </a:xfrm>
          <a:prstGeom prst="rect">
            <a:avLst/>
          </a:prstGeom>
          <a:solidFill>
            <a:srgbClr val="EAF2E3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319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2A"/>
                </a:solidFill>
              </a:rPr>
              <a:t>Objectif : concevoir un dispositif embarqué autonome permettant ce traitement thermique pour un usage en extérieur (hors réseau).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Description du Projet — Architecture ESP32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Matériel (Hardware)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73152" cy="6217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Microcontrôleur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ESP32 (80 MHz, Wi-Fi 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3055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130552"/>
            <a:ext cx="73152" cy="6217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Capteurs T°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3 bus OneWire DS18B20 (Pins 15/16/17)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4378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43784"/>
            <a:ext cx="73152" cy="6217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9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Résistances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2 éléments chauffants (Pins 12/13)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55701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557016"/>
            <a:ext cx="73152" cy="6217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Ventilateurs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849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</a:rPr>
              <a:t>2 ventilateurs PWM=200 (Pins 2/4)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Logiciel (Software)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417320"/>
            <a:ext cx="73152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53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Régulation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6642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Tout-ou-Rien ±0,5 °C (PID prévu)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984248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984248"/>
            <a:ext cx="73152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20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Multitâche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2311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FreeRTOS — PIDTask sur cœur 1 (50 ms)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551176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551176"/>
            <a:ext cx="73152" cy="50292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87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Mémoire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7980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Consigne sauvegardée EEPROM (défaut 35°C)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118104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18104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Interface Web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3649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Point d'accès Wi-Fi "SEAN_BONDON" — IP fixe 192.168.1.15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685032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685032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21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6B"/>
                </a:solidFill>
              </a:rPr>
              <a:t>Watchdog réseau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9319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Redémarrage Wi-Fi si aucun client &gt;30 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4297680"/>
            <a:ext cx="8686800" cy="640080"/>
          </a:xfrm>
          <a:prstGeom prst="rect">
            <a:avLst/>
          </a:prstGeom>
          <a:solidFill>
            <a:srgbClr val="EAF2E3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3708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2A"/>
                </a:solidFill>
              </a:rPr>
              <a:t>⚠ Limite de sécurité : consigne bornée entre 10 °C et 50 °C — sécurité thermique isolée des tâches web par FreeRTOS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Unité Fonctionnelle &amp; Flux de Référence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1887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</a:rPr>
              <a:t>Unité Fonctionnelle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Éliminer ≥ 90 % des varroas dans une ruche Dadant 10 cadres en bois, en maintenant 42 °C pendant 2 h,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à raison de 12 traitements/an pour un rucher de 5 ruches, avec un équipement conçu pour durer 5 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331720"/>
            <a:ext cx="73152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04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🎯 Fonction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2697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Éradiquer le varroa par hyperthermie tout en préservant la colonie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20040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200400"/>
            <a:ext cx="73152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📊 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3566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≥ 90 % de mortalité varroa — maintien continu à 42 °C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33172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331720"/>
            <a:ext cx="73152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404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⏱ Durée / fréquence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2697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2 h par cycle — 12 traitements/an — 5 ruches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200400"/>
            <a:ext cx="73152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📅 Durée de vie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3566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5 ans = 300 cycles = 600 heures de chauffe active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3 Axes prioritaires d'éco-conception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453128"/>
            <a:ext cx="274320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Résistance mécanique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≥ 300 manipulations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36392" y="4453128"/>
            <a:ext cx="274320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Efficience énergétique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27832" y="4754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600 h de chauffe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44184" y="4453128"/>
            <a:ext cx="274320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Durée de vie 5 ans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4754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Éviter le renouvellement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Résultats ACV — Impacts par Catégorie (ReCiPe 2016 midpoint 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6B"/>
                </a:solidFill>
              </a:rPr>
              <a:t>Système : Projet complet | Unité : 1 kg | Méthode : ReCiPe 2016 v1.03, midpoint (H)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280160"/>
          <a:ext cx="8686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Analyse des Points Chauds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</a:rPr>
              <a:t>Les 3 catégories les plus préoccupantes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2788920" cy="685800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Toxicité humaine non-cancérigène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3020"/>
                </a:solidFill>
              </a:rPr>
              <a:t>109,97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kg 1,4-DCB-Eq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2423160" cy="0"/>
          </a:xfrm>
          <a:prstGeom prst="line">
            <a:avLst/>
          </a:prstGeom>
          <a:noFill/>
          <a:ln w="12700">
            <a:solidFill>
              <a:srgbClr val="C8D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200400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Valeur dominante. Liée à la production des composants électroniques (ESP32, résistances, PCB) dont la fabrication génère des émissions de métaux lourds et composés organiques.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3716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371600"/>
            <a:ext cx="278892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447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Écotoxicité terrestre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</a:rPr>
              <a:t>65,11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461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kg 1,4-DCB-Eq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2423160" cy="0"/>
          </a:xfrm>
          <a:prstGeom prst="line">
            <a:avLst/>
          </a:prstGeom>
          <a:noFill/>
          <a:ln w="12700">
            <a:solidFill>
              <a:srgbClr val="C8D8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200400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Impact principalement associé à l'extraction minière des métaux (cuivre, étain, or) nécessaires à l'électronique embarquée.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3716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371600"/>
            <a:ext cx="2788920" cy="6858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447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Changement climatique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8C3A"/>
                </a:solidFill>
              </a:rPr>
              <a:t>14,22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722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6B"/>
                </a:solidFill>
              </a:rPr>
              <a:t>kg CO2-Eq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108960"/>
            <a:ext cx="2423160" cy="0"/>
          </a:xfrm>
          <a:prstGeom prst="line">
            <a:avLst/>
          </a:prstGeom>
          <a:noFill/>
          <a:ln w="12700">
            <a:solidFill>
              <a:srgbClr val="C8D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3200400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</a:rPr>
              <a:t>Émissions de GES dues à la production d'énergie électrique lors de la phase d'utilisation (600 h de chauffe active sur 5 ans).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892040"/>
            <a:ext cx="8686800" cy="164592"/>
          </a:xfrm>
          <a:prstGeom prst="rect">
            <a:avLst/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6B"/>
                </a:solidFill>
              </a:rPr>
              <a:t>Phase dominante : fabrication des composants électroniques &gt; phase d'utilisation énergétique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Tableau Complet des Impacts — OpenLCA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8732520" cy="397764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4231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Catégorie d'impact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Unité de référence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Acidification : terrestre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SO2-Eq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0,0694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Changement climatique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CO2-Eq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14,22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Écotoxicité : eau douce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1,4-DCB-Eq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Écotoxicité : marine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1,4-DCB-Eq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Écotoxicité : terrestre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1,4-DCB-Eq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65,11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Énergie : non-renouvelable fossile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oil-Eq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3,71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Eutrophisation : eau douce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P-Eq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0,0154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Eutrophisation : marine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N-Eq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1,33×10⁻³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Toxicité humaine : cancérigène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1,4-DCB-Eq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5,10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03020"/>
                          </a:solidFill>
                        </a:rPr>
                        <a:t>Toxicité humaine : non-cancérigène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1,4-DCB-Eq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03020"/>
                          </a:solidFill>
                        </a:rPr>
                        <a:t>109,97 ⚠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Rayonnements ionisants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kBq Co-60-Eq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Utilisation des terres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m²·a crop-Eq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Ressources : métaux/minéraux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Cu-Eq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0,732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Déplétion de la couche d'ozone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CFC-11-Eq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6,29×10⁻⁶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Formation de particules fines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PM2.5-Eq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0,0338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Formation oxydants photochimiques (santé)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NOx-Eq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Formation oxydants photochimiques (éco.)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kg NOx-Eq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0,0479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Utilisation de l'eau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0,110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Axes d'Éco-Conception &amp; Recommandations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475488" cy="1207008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3441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033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20"/>
                </a:solidFill>
              </a:rPr>
              <a:t>Réduire l'électronique embarquée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Simplifier le BOM (Bill of Materials) : choisir des composants à faible impact de fabrication, opter pour des modules certifiés (EPEAT, TCO). Réduire le nombre de PCB.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231343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2313432"/>
            <a:ext cx="475488" cy="1207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26974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23865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Optimiser la consommation énergétique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7706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Passage en mode veille profonde entre les cycles, optimisation PID pour éviter les dépassements de 42°C, alimentation solaire envisageable pour usage terrain.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366674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3666744"/>
            <a:ext cx="475488" cy="1207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4050792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Garantir la durabilité mécanique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239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Boîtier IP65 résistant à l'humidité/abeilles, composants de qualité industrielle, conception modulaire pour remplacement des éléments chauffants seuls.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0288" y="96012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960120"/>
            <a:ext cx="475488" cy="1207008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3441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8928" y="1033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C3A"/>
                </a:solidFill>
              </a:rPr>
              <a:t>Fin de vie &amp; circularité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Prévoir le démontage des cartes électroniques pour filière DEEE, choisir des matériaux recyclables pour le boîtier, documenter les matériaux (passeport produit).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90288" y="231343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2313432"/>
            <a:ext cx="475488" cy="1207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6974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23865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Valider le PID thermique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27706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Remplacer la logique Tout-ou-Rien par un véritable PID : évite les dépassements de 42°C, réduit la durée de chauffe et la consommation, améliore l'efficacité biologique.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90288" y="366674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3666744"/>
            <a:ext cx="475488" cy="1207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4050792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38928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ACV complète &amp; comparaison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41239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2A"/>
                </a:solidFill>
              </a:rPr>
              <a:t>Enrichir le modèle avec la phase de fin de vie et le transport. Comparer avec un traitement chimique Apivar sur 5 ans pour quantifier le gain environnemental.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5A8C3A"/>
          </a:solidFill>
          <a:ln w="12700">
            <a:solidFill>
              <a:srgbClr val="5A8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45720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C0"/>
                </a:solidFill>
              </a:rPr>
              <a:t>✓ Projet pertinent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005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Alternative chimio-free au varroa, fonctionnel et autonome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822960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C0"/>
                </a:solidFill>
              </a:rPr>
              <a:t>✓ UF bien définie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6642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300 cycles / 600 h sur 5 ans, 5 ruches — périmètre clair pour ACV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12848"/>
            <a:ext cx="822960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" y="23225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⚠ Phase critique identifiée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3225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Fabrication des composants électroniques = principal hotspot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71216"/>
            <a:ext cx="822960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⚠ Toxicité dominante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9809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109,97 kg 1,4-DCB-Eq (tox. non-cancérigène) et 65 kg (écotox. terrestre)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529584"/>
            <a:ext cx="822960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94360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C3A"/>
                </a:solidFill>
              </a:rPr>
              <a:t>→ Priorité d'action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639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Simplifier l'électronique + alimenter en énergie renouvelable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187952"/>
            <a:ext cx="822960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C3A"/>
                </a:solidFill>
              </a:rPr>
              <a:t>→ Prochaine étape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297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ACV complète avec fin de vie + comparaison avec traitement chimique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6B"/>
                </a:solidFill>
              </a:rPr>
              <a:t>Méthode : ReCiPe 2016 v1.03 midpoint (H) | Outil : OpenLCA | Système : Projet complet ESP32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Éco-conception - Système de chauffage anti-Varroa</dc:title>
  <dc:subject>PptxGenJS Presentation</dc:subject>
  <dc:creator>PptxGenJS</dc:creator>
  <cp:lastModifiedBy>PptxGenJS</cp:lastModifiedBy>
  <cp:revision>1</cp:revision>
  <dcterms:created xsi:type="dcterms:W3CDTF">2026-05-09T19:33:18Z</dcterms:created>
  <dcterms:modified xsi:type="dcterms:W3CDTF">2026-05-09T19:33:18Z</dcterms:modified>
</cp:coreProperties>
</file>